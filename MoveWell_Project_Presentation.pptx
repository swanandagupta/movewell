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0" y="-182880"/>
            <a:ext cx="4297680" cy="914400"/>
          </a:xfrm>
          <a:prstGeom prst="roundRect">
            <a:avLst/>
          </a:prstGeom>
          <a:noFill/>
          <a:ln w="25400">
            <a:solidFill>
              <a:srgbClr val="BE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0" y="411480"/>
            <a:ext cx="4480560" cy="822960"/>
          </a:xfrm>
          <a:prstGeom prst="roundRect">
            <a:avLst/>
          </a:prstGeom>
          <a:noFill/>
          <a:ln w="2540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95360" y="5394960"/>
            <a:ext cx="4114800" cy="914400"/>
          </a:xfrm>
          <a:prstGeom prst="roundRect">
            <a:avLst/>
          </a:prstGeom>
          <a:noFill/>
          <a:ln w="25400">
            <a:solidFill>
              <a:srgbClr val="BEE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852160"/>
            <a:ext cx="2926080" cy="731520"/>
          </a:xfrm>
          <a:prstGeom prst="roundRect">
            <a:avLst/>
          </a:prstGeom>
          <a:noFill/>
          <a:ln w="2540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F2A30"/>
                </a:solidFill>
                <a:latin typeface="Aptos Display"/>
              </a:rPr>
              <a:t>MoveWell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6F43"/>
                </a:solidFill>
                <a:latin typeface="Aptos Display"/>
              </a:rPr>
              <a:t>AI-Powered Computer Vision Workout &amp; Rehabilitation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520440"/>
            <a:ext cx="8046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5C696E"/>
                </a:solidFill>
                <a:latin typeface="Aptos"/>
              </a:rPr>
              <a:t>Real-time exercise posture assessment • quality-aware repetition counting • remote clinician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800600"/>
            <a:ext cx="2148840" cy="438912"/>
          </a:xfrm>
          <a:prstGeom prst="roundRect">
            <a:avLst/>
          </a:prstGeom>
          <a:solidFill>
            <a:srgbClr val="BE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F6F43"/>
                </a:solidFill>
                <a:latin typeface="Aptos"/>
              </a:rPr>
              <a:t>COMPUTER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A30"/>
                </a:solidFill>
                <a:latin typeface="Aptos Display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Why home-based rehabilitation needs more than a repetition counter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30352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1783080"/>
          </a:xfrm>
          <a:prstGeom prst="rect">
            <a:avLst/>
          </a:prstGeom>
          <a:solidFill>
            <a:srgbClr val="BC4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55063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2A30"/>
                </a:solidFill>
                <a:latin typeface="Aptos Display"/>
              </a:rPr>
              <a:t>Incorrect exercise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Patients often perform prescribed movements without real-time posture correction.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30352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508760"/>
            <a:ext cx="64008" cy="1783080"/>
          </a:xfrm>
          <a:prstGeom prst="rect">
            <a:avLst/>
          </a:prstGeom>
          <a:solidFill>
            <a:srgbClr val="DC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655063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2A30"/>
                </a:solidFill>
                <a:latin typeface="Aptos Display"/>
              </a:rPr>
              <a:t>Quantity over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075688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Conventional workout apps can count movement but may not validate whether the repetition was performed correctly.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94760"/>
            <a:ext cx="530352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94760"/>
            <a:ext cx="64008" cy="178308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94106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2A30"/>
                </a:solidFill>
                <a:latin typeface="Aptos Display"/>
              </a:rPr>
              <a:t>Limited clinician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361688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Physiotherapists cannot continuously observe patients between in-person visits.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94760"/>
            <a:ext cx="5303520" cy="1783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3794760"/>
            <a:ext cx="64008" cy="178308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94106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2A30"/>
                </a:solidFill>
                <a:latin typeface="Aptos Display"/>
              </a:rPr>
              <a:t>Manual follow-ups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361688"/>
            <a:ext cx="4983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Progress tracking and follow-up can become time-consuming and inconsistent.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97880"/>
            <a:ext cx="102412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F6F43"/>
                </a:solidFill>
                <a:latin typeface="Aptos"/>
              </a:rPr>
              <a:t>Goal: detect movement in real time → validate posture → give instant feedback → track rehabilitation remotely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A30"/>
                </a:solidFill>
                <a:latin typeface="Aptos Display"/>
              </a:rPr>
              <a:t>The MoveWell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One platform connecting the patient, computer vision engine and physiotherapist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331720" cy="123444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965960"/>
            <a:ext cx="2185415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PATIENT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Camera-based workout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441448"/>
            <a:ext cx="731519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94760" y="1508760"/>
            <a:ext cx="3703320" cy="1874519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7912" y="1645919"/>
            <a:ext cx="3557015" cy="16916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AI ENGINE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Pose → angles → exercise state → form quality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43800" y="2441448"/>
            <a:ext cx="731520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321040" y="1828800"/>
            <a:ext cx="2743200" cy="123444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965960"/>
            <a:ext cx="259689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CLINICIAN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Plans, reports &amp;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4069080"/>
            <a:ext cx="29718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4069080"/>
            <a:ext cx="64008" cy="132588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7008" y="421538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Real-time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463600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C696E"/>
                </a:solidFill>
                <a:latin typeface="Aptos"/>
              </a:rPr>
              <a:t>The patient receives immediate visual and voice corrections.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069080"/>
            <a:ext cx="29718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4069080"/>
            <a:ext cx="64008" cy="1325880"/>
          </a:xfrm>
          <a:prstGeom prst="rect">
            <a:avLst/>
          </a:prstGeom>
          <a:solidFill>
            <a:srgbClr val="DC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18888" y="4215384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Quality-aware reps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8888" y="4636008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C696E"/>
                </a:solidFill>
                <a:latin typeface="Aptos"/>
              </a:rPr>
              <a:t>Only repetitions satisfying configured movement criteria are counted as valid.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4069080"/>
            <a:ext cx="2743200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4069080"/>
            <a:ext cx="64008" cy="132588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0768" y="4215384"/>
            <a:ext cx="2423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Remote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0768" y="4636008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C696E"/>
                </a:solidFill>
                <a:latin typeface="Aptos"/>
              </a:rPr>
              <a:t>Session data becomes part of the patient's progress history.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A30"/>
                </a:solidFill>
                <a:latin typeface="Aptos Display"/>
              </a:rPr>
              <a:t>How the AI Workout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The core MoveWell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417320"/>
            <a:ext cx="502920" cy="502920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1691640" cy="14173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194560"/>
            <a:ext cx="1545336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Webcam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Live camera feed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761488"/>
            <a:ext cx="210312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3017520" y="1417320"/>
            <a:ext cx="502920" cy="502920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057400"/>
            <a:ext cx="1691640" cy="14173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2194560"/>
            <a:ext cx="1545336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Pose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33 body landmarks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14800" y="2761488"/>
            <a:ext cx="210312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937760" y="1417320"/>
            <a:ext cx="502920" cy="502920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2057400"/>
            <a:ext cx="1691640" cy="14173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194560"/>
            <a:ext cx="1545336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Geometry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Joint angles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2761488"/>
            <a:ext cx="210312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858000" y="1417320"/>
            <a:ext cx="502920" cy="502920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057400"/>
            <a:ext cx="1691640" cy="14173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36792" y="2194560"/>
            <a:ext cx="1545336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FSM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Movement phases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55280" y="2761488"/>
            <a:ext cx="210312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778240" y="1417320"/>
            <a:ext cx="502920" cy="502920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2057400"/>
            <a:ext cx="1691640" cy="14173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2" y="2194560"/>
            <a:ext cx="1545336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Quality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Correct / incorrect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875520" y="2761488"/>
            <a:ext cx="210312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698480" y="1417320"/>
            <a:ext cx="502920" cy="502920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057400"/>
            <a:ext cx="1691640" cy="141732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2194560"/>
            <a:ext cx="1545336" cy="12344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Feedback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Reps + guidance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4251960"/>
            <a:ext cx="101498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" y="4251960"/>
            <a:ext cx="64008" cy="1234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07008" y="4398264"/>
            <a:ext cx="9829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2A30"/>
                </a:solidFill>
                <a:latin typeface="Aptos Display"/>
              </a:rPr>
              <a:t>Key principle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" y="4818888"/>
            <a:ext cx="9829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C696E"/>
                </a:solidFill>
                <a:latin typeface="Aptos"/>
              </a:rPr>
              <a:t>The system does not ask only “Did the user move?” It asks whether the required movement was completed with the required biomechanical quality.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A30"/>
                </a:solidFill>
                <a:latin typeface="Aptos Display"/>
              </a:rPr>
              <a:t>Real-Time Body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MediaPipe Pose Landmarker traces the user's movement through anatomical landmarks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 2026-10-10 173539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234440"/>
            <a:ext cx="4983480" cy="26353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1417320"/>
            <a:ext cx="53492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234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6362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33 body landmarks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842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The pose model extracts landmarks across the head, shoulders, elbows, wrists, hips, knees, ankles and feet.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880360"/>
            <a:ext cx="53492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880360"/>
            <a:ext cx="64008" cy="123444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2666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Skeleton overlay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4472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A transparent Canvas layer connects landmarks so the visual skeleton follows the user's body in real time.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5349240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343400"/>
            <a:ext cx="64008" cy="1234440"/>
          </a:xfrm>
          <a:prstGeom prst="rect">
            <a:avLst/>
          </a:prstGeom>
          <a:solidFill>
            <a:srgbClr val="DC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489704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Confidence-aware tracking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9103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If key landmarks are not visible or confidence is too low, the system pauses assessment instead of producing misleading measurements.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A30"/>
                </a:solidFill>
                <a:latin typeface="Aptos Display"/>
              </a:rPr>
              <a:t>Example: Intelligent Squat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A repetition is counted only after the required movement cycle and quality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93391" y="1508760"/>
            <a:ext cx="402336" cy="402336"/>
          </a:xfrm>
          <a:prstGeom prst="ellipse">
            <a:avLst/>
          </a:prstGeom>
          <a:solidFill>
            <a:srgbClr val="BEEFDA"/>
          </a:solidFill>
          <a:ln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194560" y="1920240"/>
            <a:ext cx="0" cy="822960"/>
          </a:xfrm>
          <a:prstGeom prst="line">
            <a:avLst/>
          </a:prstGeom>
          <a:ln w="508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1463039" y="2103120"/>
            <a:ext cx="731521" cy="320040"/>
          </a:xfrm>
          <a:prstGeom prst="line">
            <a:avLst/>
          </a:prstGeom>
          <a:ln w="508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194560" y="2103120"/>
            <a:ext cx="731520" cy="320040"/>
          </a:xfrm>
          <a:prstGeom prst="line">
            <a:avLst/>
          </a:prstGeom>
          <a:ln w="508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600200" y="2743200"/>
            <a:ext cx="594360" cy="685800"/>
          </a:xfrm>
          <a:prstGeom prst="line">
            <a:avLst/>
          </a:prstGeom>
          <a:ln w="508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94560" y="2743200"/>
            <a:ext cx="594360" cy="685800"/>
          </a:xfrm>
          <a:prstGeom prst="line">
            <a:avLst/>
          </a:prstGeom>
          <a:ln w="508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1417319" y="3429000"/>
            <a:ext cx="182881" cy="1051560"/>
          </a:xfrm>
          <a:prstGeom prst="line">
            <a:avLst/>
          </a:prstGeom>
          <a:ln w="508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88920" y="3429000"/>
            <a:ext cx="182880" cy="1051560"/>
          </a:xfrm>
          <a:prstGeom prst="line">
            <a:avLst/>
          </a:prstGeom>
          <a:ln w="508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130552" y="1856232"/>
            <a:ext cx="128016" cy="128016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30552" y="2679192"/>
            <a:ext cx="128016" cy="128016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1" y="2359152"/>
            <a:ext cx="128016" cy="128016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862072" y="2359152"/>
            <a:ext cx="128016" cy="128016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36192" y="3364992"/>
            <a:ext cx="128016" cy="128016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24912" y="3364992"/>
            <a:ext cx="128016" cy="128016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53311" y="4416552"/>
            <a:ext cx="128016" cy="128016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907792" y="4416552"/>
            <a:ext cx="128016" cy="128016"/>
          </a:xfrm>
          <a:prstGeom prst="ellipse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4983480"/>
            <a:ext cx="274320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F6F43"/>
                </a:solidFill>
                <a:latin typeface="Aptos"/>
              </a:rPr>
              <a:t>Knee angle  →  96°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1508760"/>
            <a:ext cx="1234440" cy="123444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25112" y="1645919"/>
            <a:ext cx="108813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STANDING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Ready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0" y="2130552"/>
            <a:ext cx="182880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69280" y="1508760"/>
            <a:ext cx="1234440" cy="123444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42432" y="1645919"/>
            <a:ext cx="108813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DESCENDING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Angle decreases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03720" y="2130552"/>
            <a:ext cx="182880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086600" y="1508760"/>
            <a:ext cx="1234440" cy="123444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9752" y="1645919"/>
            <a:ext cx="108813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BOTTOM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≤ 100°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21040" y="2130552"/>
            <a:ext cx="182880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503920" y="1508760"/>
            <a:ext cx="1234440" cy="123444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77072" y="1645919"/>
            <a:ext cx="108813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ASCENDING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Returning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38360" y="2130552"/>
            <a:ext cx="182880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921240" y="1508760"/>
            <a:ext cx="1234440" cy="123444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94392" y="1645919"/>
            <a:ext cx="1088136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VALID REP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+1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246120"/>
            <a:ext cx="68122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97680" y="3246120"/>
            <a:ext cx="64008" cy="1417320"/>
          </a:xfrm>
          <a:prstGeom prst="rect">
            <a:avLst/>
          </a:prstGeom>
          <a:solidFill>
            <a:srgbClr val="DC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8848" y="3392424"/>
            <a:ext cx="6492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Quality checks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98848" y="3813048"/>
            <a:ext cx="6492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Depth must be reached, torso alignment must remain within the configured threshold, and the user must return to standing before the repetition is counted.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4892040"/>
            <a:ext cx="324612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97680" y="4892040"/>
            <a:ext cx="64008" cy="86868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8848" y="503834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If correct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98848" y="5458968"/>
            <a:ext cx="2926079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6E"/>
                </a:solidFill>
                <a:latin typeface="Aptos"/>
              </a:rPr>
              <a:t>VALID REP +1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18120" y="4892040"/>
            <a:ext cx="3291840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818120" y="4892040"/>
            <a:ext cx="64008" cy="868680"/>
          </a:xfrm>
          <a:prstGeom prst="rect">
            <a:avLst/>
          </a:prstGeom>
          <a:solidFill>
            <a:srgbClr val="BC4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19288" y="5038344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If incorrect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9288" y="5458968"/>
            <a:ext cx="297180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6E"/>
                </a:solidFill>
                <a:latin typeface="Aptos"/>
              </a:rPr>
              <a:t>Feedback + invalid attempt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A30"/>
                </a:solidFill>
                <a:latin typeface="Aptos Display"/>
              </a:rPr>
              <a:t>Real-Time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The system responds to actual movement quality, not pre-filled messages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375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41732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Good movement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✓ Correct depth
✓ Acceptable posture
→ Count repetition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1417320"/>
          </a:xfrm>
          <a:prstGeom prst="rect">
            <a:avLst/>
          </a:prstGeom>
          <a:solidFill>
            <a:srgbClr val="DC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56362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Insufficient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8424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⚠ “Squat lower for full depth.”
→ Do not count as valid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33756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1417320"/>
          </a:xfrm>
          <a:prstGeom prst="rect">
            <a:avLst/>
          </a:prstGeom>
          <a:solidFill>
            <a:srgbClr val="BC4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563624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Excessive lean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984248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⚠ “Keep your chest upright.”
→ Record form issue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37560"/>
            <a:ext cx="530352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37560"/>
            <a:ext cx="64008" cy="155448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483864"/>
            <a:ext cx="4983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2A30"/>
                </a:solidFill>
                <a:latin typeface="Aptos Display"/>
              </a:rPr>
              <a:t>Session Form Flaws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904487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The workout stores observable problems such as incomplete depth or excessive torso lean so the session summary can show where technique broke down.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37560"/>
            <a:ext cx="52578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337560"/>
            <a:ext cx="64008" cy="155448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3483864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2A30"/>
                </a:solidFill>
                <a:latin typeface="Aptos Display"/>
              </a:rPr>
              <a:t>Voice + visual guidance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904487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Web Speech API can announce corrections, while the interface shows the current phase, angle, feedback state and repetition count.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A30"/>
                </a:solidFill>
                <a:latin typeface="Aptos Display"/>
              </a:rPr>
              <a:t>Patient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From assigned plan to measurable rehabilitation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2423160" cy="11430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645919"/>
            <a:ext cx="2276856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PLAN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Clinician assigns exercises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63240" y="2075688"/>
            <a:ext cx="685799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94760" y="1508760"/>
            <a:ext cx="2423160" cy="11430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7912" y="1645919"/>
            <a:ext cx="2276856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WORKOUT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Live camera + AI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0" y="2075688"/>
            <a:ext cx="685800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949440" y="1508760"/>
            <a:ext cx="2423160" cy="11430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1F6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645919"/>
            <a:ext cx="2276856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SUMMARY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Session metrics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72600" y="2075688"/>
            <a:ext cx="685800" cy="0"/>
          </a:xfrm>
          <a:prstGeom prst="line">
            <a:avLst/>
          </a:prstGeom>
          <a:ln w="25400">
            <a:solidFill>
              <a:srgbClr val="1F6F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04120" y="1508760"/>
            <a:ext cx="1417320" cy="1143000"/>
          </a:xfrm>
          <a:prstGeom prst="roundRect">
            <a:avLst/>
          </a:prstGeom>
          <a:solidFill>
            <a:srgbClr val="FFFFFF"/>
          </a:solidFill>
          <a:ln w="21590">
            <a:solidFill>
              <a:srgbClr val="366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77272" y="1645919"/>
            <a:ext cx="1271016" cy="9601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400" b="1">
                <a:solidFill>
                  <a:srgbClr val="1F2A30"/>
                </a:solidFill>
                <a:latin typeface="Aptos Display"/>
              </a:rPr>
              <a:t>PROGRESS</a:t>
            </a:r>
          </a:p>
          <a:p>
            <a:pPr algn="ctr"/>
            <a:r>
              <a:rPr sz="950">
                <a:solidFill>
                  <a:srgbClr val="5C696E"/>
                </a:solidFill>
                <a:latin typeface="Aptos"/>
              </a:rPr>
              <a:t>Trends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46120"/>
            <a:ext cx="31546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246120"/>
            <a:ext cx="64008" cy="141732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392424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813048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6E"/>
                </a:solidFill>
                <a:latin typeface="Aptos"/>
              </a:rPr>
              <a:t>Recovery stage, assigned exercises, valid reps, form accuracy, adherence and clinician recommendations.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246120"/>
            <a:ext cx="31546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26280" y="3246120"/>
            <a:ext cx="64008" cy="141732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3392424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Session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3813048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6E"/>
                </a:solidFill>
                <a:latin typeface="Aptos"/>
              </a:rPr>
              <a:t>Duration, valid/invalid repetitions, accuracy and review status.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246120"/>
            <a:ext cx="315468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246120"/>
            <a:ext cx="64008" cy="1417320"/>
          </a:xfrm>
          <a:prstGeom prst="rect">
            <a:avLst/>
          </a:prstGeom>
          <a:solidFill>
            <a:srgbClr val="DC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3392424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813048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6E"/>
                </a:solidFill>
                <a:latin typeface="Aptos"/>
              </a:rPr>
              <a:t>Form-accuracy trends and valid vs. invalid repetition history.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5166360"/>
            <a:ext cx="850392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0" y="5166360"/>
            <a:ext cx="64008" cy="68580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9968" y="5312664"/>
            <a:ext cx="8183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Outcome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5733288"/>
            <a:ext cx="81838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C696E"/>
                </a:solidFill>
                <a:latin typeface="Aptos"/>
              </a:rPr>
              <a:t>The patient gets immediate guidance during the exercise and longitudinal visibility after the session.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A30"/>
                </a:solidFill>
                <a:latin typeface="Aptos Display"/>
              </a:rPr>
              <a:t>Physiotherapist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Turning workout data into remote rehabilitation oversight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4630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6362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1. Patient roster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View supervised patients, rehabilitation stage, adherence and latest form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64008" cy="146304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6362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2. Prescription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84248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Create plans with exercises, sets, reps, schedules and clinician instructions.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64008" cy="1463040"/>
          </a:xfrm>
          <a:prstGeom prst="rect">
            <a:avLst/>
          </a:prstGeom>
          <a:solidFill>
            <a:srgbClr val="DC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563624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3. Patient deep-dive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84248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Review session history, movement flaws and performance trends.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520440"/>
            <a:ext cx="38862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28800" y="3520440"/>
            <a:ext cx="64008" cy="14630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3666744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Weekly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8" y="4087368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Summarizes adherence, average form accuracy, valid/invalid repetitions and common flaws.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3520440"/>
            <a:ext cx="3886200" cy="14630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3520440"/>
            <a:ext cx="64008" cy="146304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3666744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F2A30"/>
                </a:solidFill>
                <a:latin typeface="Aptos Display"/>
              </a:rPr>
              <a:t>Clinical interaction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4087368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>
                <a:solidFill>
                  <a:srgbClr val="5C696E"/>
                </a:solidFill>
                <a:latin typeface="Aptos"/>
              </a:rPr>
              <a:t>Recommendations and appointment/telehealth workflows keep the patient connected to the clinician.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5440680"/>
            <a:ext cx="672084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5440680"/>
            <a:ext cx="64008" cy="59436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44368" y="558698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2A30"/>
                </a:solidFill>
                <a:latin typeface="Aptos Display"/>
              </a:rPr>
              <a:t>Core benefit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44368" y="6007608"/>
            <a:ext cx="640080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C696E"/>
                </a:solidFill>
                <a:latin typeface="Aptos"/>
              </a:rPr>
              <a:t>Less reliance on manual follow-up, with structured evidence of home exercise performance.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A30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The website combines a client-side CV engine with a clinical management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2461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44348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47218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A30"/>
                </a:solidFill>
                <a:latin typeface="Aptos Display"/>
              </a:rPr>
              <a:t>PATIENT /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2926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C696E"/>
                </a:solidFill>
                <a:latin typeface="Aptos"/>
              </a:rPr>
              <a:t>React + TypeScript
Webcam
MediaPipe Pose Landmarker
Canvas skeleton
Joint-angle calculations
Exercise FSM
Live feedback
Recharts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325880"/>
            <a:ext cx="388620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325880"/>
            <a:ext cx="64008" cy="443484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472184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A30"/>
                </a:solidFill>
                <a:latin typeface="Aptos Display"/>
              </a:rPr>
              <a:t>BACKEND /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1892807"/>
            <a:ext cx="3566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C696E"/>
                </a:solidFill>
                <a:latin typeface="Aptos"/>
              </a:rPr>
              <a:t>FastAPI
JWT authentication
Pydantic validation
SQLAlchemy ORM
SQLite for local development
PostgreSQL for production
Workout sessions
Plans
Appointments
Clinical notes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325880"/>
            <a:ext cx="3246120" cy="4434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66760" y="1325880"/>
            <a:ext cx="64008" cy="4434840"/>
          </a:xfrm>
          <a:prstGeom prst="rect">
            <a:avLst/>
          </a:prstGeom>
          <a:solidFill>
            <a:srgbClr val="DC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67928" y="1472184"/>
            <a:ext cx="2926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2A30"/>
                </a:solidFill>
                <a:latin typeface="Aptos Display"/>
              </a:rPr>
              <a:t>ML / RESEARCH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1892807"/>
            <a:ext cx="29260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C696E"/>
                </a:solidFill>
                <a:latin typeface="Aptos"/>
              </a:rPr>
              <a:t>UI-PRMD dataset
Feature extraction
Subject-independent evaluation
Random Forest benchmark
Future extensions:
severity scoring
recovery prediction
wearables
EHR integration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57400" y="5897880"/>
            <a:ext cx="809244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57400" y="5897880"/>
            <a:ext cx="64008" cy="50292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58568" y="6044184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2A30"/>
                </a:solidFill>
                <a:latin typeface="Aptos Display"/>
              </a:rPr>
              <a:t>Privacy principle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58568" y="6464808"/>
            <a:ext cx="7772400" cy="-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5C696E"/>
                </a:solidFill>
                <a:latin typeface="Aptos"/>
              </a:rPr>
              <a:t>Process pose data client-side where practical; persist structured session metrics rather than raw webcam video.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>
                <a:solidFill>
                  <a:srgbClr val="1F2A30"/>
                </a:solidFill>
                <a:latin typeface="Aptos Display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C696E"/>
                </a:solidFill>
                <a:latin typeface="Aptos"/>
              </a:rPr>
              <a:t>Where the platform can evolve beyond the current prototype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14300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63624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01  Personalized AI plans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C696E"/>
                </a:solidFill>
                <a:latin typeface="Aptos"/>
              </a:rPr>
              <a:t>Adapt rehabilitation plans based on observed progress.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64008" cy="1143000"/>
          </a:xfrm>
          <a:prstGeom prst="rect">
            <a:avLst/>
          </a:prstGeom>
          <a:solidFill>
            <a:srgbClr val="366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563624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02  Severity &amp; recovery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9842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C696E"/>
                </a:solidFill>
                <a:latin typeface="Aptos"/>
              </a:rPr>
              <a:t>Use ML to estimate progression from longitudinal movement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34640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834640"/>
            <a:ext cx="64008" cy="1143000"/>
          </a:xfrm>
          <a:prstGeom prst="rect">
            <a:avLst/>
          </a:prstGeom>
          <a:solidFill>
            <a:srgbClr val="DC97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980944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03  Wearable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015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C696E"/>
                </a:solidFill>
                <a:latin typeface="Aptos"/>
              </a:rPr>
              <a:t>Combine camera-based assessment with sensor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34640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834640"/>
            <a:ext cx="64008" cy="1143000"/>
          </a:xfrm>
          <a:prstGeom prst="rect">
            <a:avLst/>
          </a:prstGeom>
          <a:solidFill>
            <a:srgbClr val="BC4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2980944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04  Multilingual voice guidance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40156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C696E"/>
                </a:solidFill>
                <a:latin typeface="Aptos"/>
              </a:rPr>
              <a:t>Make spoken exercise guidance more accessible.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37560" y="4251960"/>
            <a:ext cx="498348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7F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37560" y="4251960"/>
            <a:ext cx="64008" cy="114300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4398264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F2A30"/>
                </a:solidFill>
                <a:latin typeface="Aptos Display"/>
              </a:rPr>
              <a:t>05  EHR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481888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>
                <a:solidFill>
                  <a:srgbClr val="5C696E"/>
                </a:solidFill>
                <a:latin typeface="Aptos"/>
              </a:rPr>
              <a:t>Connect structured rehabilitation information with electronic health records.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A30"/>
                </a:solidFill>
                <a:latin typeface="Aptos Display"/>
              </a:rPr>
              <a:t>MoveWell: Quality Over Quantity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583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900">
                <a:solidFill>
                  <a:srgbClr val="1F2A30"/>
                </a:solidFill>
                <a:latin typeface="Aptos"/>
              </a:rPr>
              <a:t>MoveWell combines computer vision, biomechanical movement assessment and rehabilitation management into one platform.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5C696E"/>
                </a:solidFill>
                <a:latin typeface="Aptos"/>
              </a:rPr>
              <a:t>The core principle is simple: a repetition should be counted only when the required movement is completed correctly.</a:t>
            </a:r>
          </a:p>
          <a:p>
            <a:pPr>
              <a:spcAft>
                <a:spcPts val="1800"/>
              </a:spcAft>
            </a:pPr>
            <a:r>
              <a:rPr sz="1700">
                <a:solidFill>
                  <a:srgbClr val="5C696E"/>
                </a:solidFill>
                <a:latin typeface="Aptos"/>
              </a:rPr>
              <a:t>Patients receive immediate guidance while physiotherapists gain structured visibility into home-based rehabilitation progress.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508760"/>
            <a:ext cx="3566160" cy="2971800"/>
          </a:xfrm>
          <a:prstGeom prst="roundRect">
            <a:avLst/>
          </a:prstGeom>
          <a:solidFill>
            <a:srgbClr val="1F6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0" y="1874519"/>
            <a:ext cx="2926080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 Display"/>
              </a:rPr>
              <a:t>REAL CAMERA
+
REAL POSE TRACKING
+
REAL FORM ASSESSMENT
+
REAL PROGRESS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5257800"/>
            <a:ext cx="3520440" cy="594360"/>
          </a:xfrm>
          <a:prstGeom prst="roundRect">
            <a:avLst/>
          </a:prstGeom>
          <a:solidFill>
            <a:srgbClr val="BE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6F43"/>
                </a:solidFill>
                <a:latin typeface="Aptos"/>
              </a:rPr>
              <a:t>AI-POWERED REHABILITATION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473952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C696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MoveWell — AI-Powered Computer Vision Workout &amp; Rehabilitation</dc:title>
  <dc:subject>Project presentation and website demonstration</dc:subject>
  <dc:creator>MoveWell Team</dc:creator>
  <cp:keywords>Computer Vision, MediaPipe, Rehabilitation, Exercise Assessment, MoveWell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